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One line: can an agent learn to design MRI scans on the fly, better than a fixed protocol? Name, supervisors, BEng FYP.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[Framing (15%) — motivate the problem from a real clinical pressure]</a:t>
            </a:r>
          </a:p>
          <a:p/>
          <a:p>
            <a:r>
              <a:t>Clinical hook. MRI gives soft-tissue contrast that guides radiotherapy; acquisition time is the bottleneck. qMRI measures T1/T2 by acquiring several timed images and fitting a relaxation curve — more scan time. Today timings are fixed for every patient, but the most informative timing depends on the unknown tissue. That tension is the problem.</a:t>
            </a:r>
          </a:p>
          <a:p/>
          <a:p>
            <a:r>
              <a:t>— Slide bullets (detail) —</a:t>
            </a:r>
          </a:p>
          <a:p>
            <a:r>
              <a:t>• MRI guides radiotherapy (MR-Linac) — but acquisition time is the clinical bottleneck</a:t>
            </a:r>
          </a:p>
          <a:p>
            <a:r>
              <a:t>    – longer scans → motion artefacts, less on-table adaptation</a:t>
            </a:r>
          </a:p>
          <a:p>
            <a:r>
              <a:t>• Quantitative MRI (qMRI) measures physical tissue constants T1, T2</a:t>
            </a:r>
          </a:p>
          <a:p>
            <a:r>
              <a:t>    – needs several images at different timings, then a curve fit → even more time</a:t>
            </a:r>
          </a:p>
          <a:p>
            <a:r>
              <a:t>• Today those timings are a FIXED protocol — same for every patient</a:t>
            </a:r>
          </a:p>
          <a:p>
            <a:r>
              <a:t>• But the most informative timing depends on the tissue you're measuring…</a:t>
            </a:r>
          </a:p>
          <a:p>
            <a:r>
              <a:t>    – …which is exactly what you don't know yet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[Framing (15%) — state the gap as a TENSION, then the novelty claim]</a:t>
            </a:r>
          </a:p>
          <a:p/>
          <a:p>
            <a:r>
              <a:t>Adaptive idea: choose next acquisition from current estimate (Beracha ~2.5x). The gap as a tension: adaptive qMRI is Bayesian-model-only; RL in MRI targets non-quantitative goals; nobody combined learned + adaptive + quantitative. Thesis: first RL agent for adaptive qMRI, conditioned on fitted T1, scored on T1 error. Roadmap to the three contributions — phantom, validated simulator, RL.</a:t>
            </a:r>
          </a:p>
          <a:p/>
          <a:p>
            <a:r>
              <a:t>— Slide bullets (detail) —</a:t>
            </a:r>
          </a:p>
          <a:p>
            <a:r>
              <a:t>• Adaptive MRI: choose the next acquisition from the current estimate (≈2.5× faster, Beracha)</a:t>
            </a:r>
          </a:p>
          <a:p>
            <a:r>
              <a:t>• The tension:</a:t>
            </a:r>
          </a:p>
          <a:p>
            <a:r>
              <a:t>    – adaptive qMRI exists — but only as a hand-derived BAYESIAN model</a:t>
            </a:r>
          </a:p>
          <a:p>
            <a:r>
              <a:t>    – RL has controlled MRI scanners — but for NON-quantitative goals (k-space, shape)</a:t>
            </a:r>
          </a:p>
          <a:p>
            <a:r>
              <a:t>    – nobody has put a LEARNED policy on the QUANTITATIVE objective</a:t>
            </a:r>
          </a:p>
          <a:p>
            <a:r>
              <a:t>• Thesis: the first RL agent for adaptive quantitative MRI</a:t>
            </a:r>
          </a:p>
          <a:p>
            <a:r>
              <a:t>    – conditions each acquisition on the current fitted T1; trained &amp; scored on T1 error</a:t>
            </a:r>
          </a:p>
          <a:p>
            <a:r>
              <a:t>• Roadmap: trustworthy phantom (A1) → validated simulator (A2) → the RL (A3)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[Execution (50%) — the digital twin + reproducibility signal]</a:t>
            </a:r>
          </a:p>
          <a:p/>
          <a:p>
            <a:r>
              <a:t>A1. The agent learns entirely in simulation so it needs a known object. QalibreMD Model 130, the standard NIST/ISMRM phantom, 14 spheres ~24ms-1.9s. I built MRISystemPhantom.jl: configurable open-source twin returning KomaMRI objects, plus ground truth, fitter, randomisation. Design decision: water (80% of spins) on its own coarsenable grid — the lever for cheap RL later. Reproducible: tested package, serialisable PhantomConfig+seed, any result regenerates from a config.</a:t>
            </a:r>
          </a:p>
          <a:p/>
          <a:p>
            <a:r>
              <a:t>— Slide bullets (detail) —</a:t>
            </a:r>
          </a:p>
          <a:p>
            <a:r>
              <a:t>• Agent learns in simulation → needs a KNOWN object with ground-truth T1/T2</a:t>
            </a:r>
          </a:p>
          <a:p>
            <a:r>
              <a:t>• QalibreMD Model 130: standard NIST/ISMRM calibration phantom</a:t>
            </a:r>
          </a:p>
          <a:p>
            <a:r>
              <a:t>    – 14 spheres spanning the clinical T1 range (~24 ms to 1.9 s)</a:t>
            </a:r>
          </a:p>
          <a:p>
            <a:r>
              <a:t>• Built MRISystemPhantom.jl — configurable twin returning KomaMRI objects</a:t>
            </a:r>
          </a:p>
          <a:p>
            <a:r>
              <a:t>    – ground-truth labels, the T1 fitter, per-episode randomisation</a:t>
            </a:r>
          </a:p>
          <a:p>
            <a:r>
              <a:t>• Key decision: background water (~80% of spins) on its OWN coarsenable grid</a:t>
            </a:r>
          </a:p>
          <a:p>
            <a:r>
              <a:t>    – the lever that later makes RL training affordable</a:t>
            </a:r>
          </a:p>
          <a:p>
            <a:r>
              <a:t>• Reproducible by construction: open-source pkg, ~373 tests, serialisable config + seed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[Communication / Execution — show the twin is real, runnable engineering]</a:t>
            </a:r>
          </a:p>
          <a:p/>
          <a:p>
            <a:r>
              <a:t>DEMO. Run examples/plot_phantom_3d.jl / t1_mapping.jl live: build from a config, show the 3-D voxelised plate coloured by T1, simulate one IR signal. Narrate that it's a real KomaMRI.Phantom. Fallback screenshots on the slide. Pre-warm Julia JIT. Hard stop at 5:30.</a:t>
            </a:r>
          </a:p>
          <a:p/>
          <a:p>
            <a:r>
              <a:t>— Slide bullets (detail) —</a:t>
            </a:r>
          </a:p>
          <a:p>
            <a:r>
              <a:t>• Build a phantom live from a PhantomConfig</a:t>
            </a:r>
          </a:p>
          <a:p>
            <a:r>
              <a:t>• Show the 3-D voxelised T1 plate, coloured by T1 value</a:t>
            </a:r>
          </a:p>
          <a:p>
            <a:r>
              <a:t>• Hand it straight to the Bloch simulator → one IR signal / reconstructed image</a:t>
            </a:r>
          </a:p>
          <a:p>
            <a:r>
              <a:t>• “This is a real KomaMRI.Phantom — no special casing.”</a:t>
            </a:r>
          </a:p>
          <a:p>
            <a:r>
              <a:t>    – FALLBACK: pre-captured screenshots on this slide if the build stalls</a:t>
            </a:r>
          </a:p>
          <a:p>
            <a:r>
              <a:t>    – pre-warm the Julia session before the talk (avoid first-call JIT)</a:t>
            </a:r>
          </a:p>
          <a:p>
            <a:r>
              <a:t>    – HARD STOP at 5:30 — do not overrun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[Execution (50%) — validation rigour: parameter recovery, not eyeballing]</a:t>
            </a:r>
          </a:p>
          <a:p/>
          <a:p>
            <a:r>
              <a:t>A2. A simulator the agent learns from must be quantitatively correct, not just plausible. KomaMRI benchmarked only on short sequences. Validate by parameter recovery, no noise: should be exact, got 39.4% error, images looked fine. Hard part was diagnostic: spoilers made it worse (ruling out the obvious physics explanation), longer TR worse too — pointing at elapsed time, not physics.</a:t>
            </a:r>
          </a:p>
          <a:p/>
          <a:p>
            <a:r>
              <a:t>— Slide bullets (detail) —</a:t>
            </a:r>
          </a:p>
          <a:p>
            <a:r>
              <a:t>• If the agent learns from a simulator, it must be QUANTITATIVELY right</a:t>
            </a:r>
          </a:p>
          <a:p>
            <a:r>
              <a:t>    – KomaMRI is peer-reviewed — but benchmarked only on SHORT sequences</a:t>
            </a:r>
          </a:p>
          <a:p>
            <a:r>
              <a:t>• Validate as qMRI demands: known phantom → fit T1 → compare, no noise</a:t>
            </a:r>
          </a:p>
          <a:p>
            <a:r>
              <a:t>• It should be near-exact. It wasn't: 39.4% mean error, some near 100%</a:t>
            </a:r>
          </a:p>
          <a:p>
            <a:r>
              <a:t>    – and the images still looked fine</a:t>
            </a:r>
          </a:p>
          <a:p>
            <a:r>
              <a:t>• Ruling out physics (the hard part):</a:t>
            </a:r>
          </a:p>
          <a:p>
            <a:r>
              <a:t>    – adding spoilers made it WORSE (39.4 → 44.0%)</a:t>
            </a:r>
          </a:p>
          <a:p>
            <a:r>
              <a:t>    – longer TR made it worse → driven by total elapsed TIME, not physics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[Execution (50%) — minimal reproducers, upstream contribution, the 'aha']</a:t>
            </a:r>
          </a:p>
          <a:p/>
          <a:p>
            <a:r>
              <a:t>A2 bug. Diagnostic: look at k-space directly — collapses after fixed cumulative time, regardless of shot count. Mechanism: fixed absolute ε=1e-14 marks the RF edge, but Float64 precision is relative (eps(t)≈t·2⁻⁵²); past ~128s t+ε==t, edge markers collapse, wrong RF for one sample = 5% of a 1ms pulse → 20-25% jump → biased T1. Minimal reproducers, fixed upstream, PR #780 merged, #789 open. 39.4→0.48%. This is what makes Part 3 trustworthy.</a:t>
            </a:r>
          </a:p>
          <a:p/>
          <a:p>
            <a:r>
              <a:t>— Slide bullets (detail) —</a:t>
            </a:r>
          </a:p>
          <a:p>
            <a:r>
              <a:t>• Decisive diagnostic: k-space collapses after a fixed cumulative TIME</a:t>
            </a:r>
          </a:p>
          <a:p>
            <a:r>
              <a:t>• Mechanism: RF edge marked with a FIXED ε = 1e-14 s…</a:t>
            </a:r>
          </a:p>
          <a:p>
            <a:r>
              <a:t>    – …but Float64 precision is RELATIVE: gap grows as eps(t) ≈ t·2⁻⁵²</a:t>
            </a:r>
          </a:p>
          <a:p>
            <a:r>
              <a:t>    – past ~128 s, t+ε == t bit-for-bit → edge markers collapse</a:t>
            </a:r>
          </a:p>
          <a:p>
            <a:r>
              <a:t>    – wrong RF for one sample = 5% of a 1 ms pulse → 20–25% signal jump</a:t>
            </a:r>
          </a:p>
          <a:p>
            <a:r>
              <a:t>• Reduced to minimal reproducers, fixed, contributed upstream: PR #780 (merged), #789</a:t>
            </a:r>
          </a:p>
          <a:p>
            <a:r>
              <a:t>• Result: 39.4% → 0.48% mean error (max 1.2%)</a:t>
            </a:r>
          </a:p>
          <a:p>
            <a:r>
              <a:t>    – novel failure mode for an MRI simulator; bites exactly in the long-sequence RL regime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[Execution (50%) — the MDP and the engineering of the loop]</a:t>
            </a:r>
          </a:p>
          <a:p/>
          <a:p>
            <a:r>
              <a:t>A3 formulation. Episode = 2-D IR scan through the T1 plate under a 240s budget. State: running per-sphere T1 estimates + budget; agent sees estimates not pixels. Action: next TI (and TR). Reward dense: Δlog MAPE — because an early terminal-bonus version collapsed to a fixed policy. PPO via SB3, Julia in-process. Noise σ=50 → SNR 17-28, clinical.</a:t>
            </a:r>
          </a:p>
          <a:p/>
          <a:p>
            <a:r>
              <a:t>— Slide bullets (detail) —</a:t>
            </a:r>
          </a:p>
          <a:p>
            <a:r>
              <a:t>• Episode = a 2-D inversion-recovery scan through the T1 plate, fixed time budget (240 s)</a:t>
            </a:r>
          </a:p>
          <a:p>
            <a:r>
              <a:t>• State: running per-sphere T1 estimates + budget used</a:t>
            </a:r>
          </a:p>
          <a:p>
            <a:r>
              <a:t>    – agent never sees pixels — only the fitter's estimates (real qMRI interface)</a:t>
            </a:r>
          </a:p>
          <a:p>
            <a:r>
              <a:t>• Action: the next block's timings — inversion time TI (and TR)</a:t>
            </a:r>
          </a:p>
          <a:p>
            <a:r>
              <a:t>• Reward: DENSE — per-step improvement in log-error, Δlog MAPE</a:t>
            </a:r>
          </a:p>
          <a:p>
            <a:r>
              <a:t>    – why dense: an early version with a big terminal bonus collapsed to a fixed policy</a:t>
            </a:r>
          </a:p>
          <a:p>
            <a:r>
              <a:t>• Stack: Gymnasium + Stable-Baselines3 PPO, Python↔Julia, simulator in-process</a:t>
            </a:r>
          </a:p>
          <a:p>
            <a:r>
              <a:t>• Noise calibrated: σ=50 → SNR ≈ 17–28, clinical IR range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[Execution (50%) — adapting a technique with INSIGHT (cached-water linearity)]</a:t>
            </a:r>
          </a:p>
          <a:p/>
          <a:p>
            <a:r>
              <a:t>C2 cost wall. Full-Bloch step ~4s CPU → 200k steps ~9 days. 80% of spins are water the agent doesn't measure. Two levers: coarsen water (rescale PD to conserve magnetisation), or cache it exploiting linearity S_full=S_spheres+S_water — homogeneous water factorises, new timing just rescales a template computed once, ~8x saving, matches full-Bloch to 0.12%. Net ~30x ladder, warm-start one policy up the rungs. Next slide: the linearity that makes caching exact.</a:t>
            </a:r>
          </a:p>
          <a:p/>
          <a:p>
            <a:r>
              <a:t>— Slide bullets (detail) —</a:t>
            </a:r>
          </a:p>
          <a:p>
            <a:r>
              <a:t>• The wall: a full-Bloch step ≈ 4 s on CPU → a 200k-step run is ~9 DAYS</a:t>
            </a:r>
          </a:p>
          <a:p>
            <a:r>
              <a:t>    – RL normally trains on environments millions of times cheaper</a:t>
            </a:r>
          </a:p>
          <a:p>
            <a:r>
              <a:t>• Key observation: 80% of spins are background water the agent never measures</a:t>
            </a:r>
          </a:p>
          <a:p>
            <a:r>
              <a:t>• Two levers, both on the water:</a:t>
            </a:r>
          </a:p>
          <a:p>
            <a:r>
              <a:t>    – coarsen it (own grid, proton density rescaled to conserve magnetisation)</a:t>
            </a:r>
          </a:p>
          <a:p>
            <a:r>
              <a:t>    – cache it — exploit simulator LINEARITY: S_full = S_spheres + S_water</a:t>
            </a:r>
          </a:p>
          <a:p>
            <a:r>
              <a:t>        – homogeneous water factorises → new timing just rescales a cached template</a:t>
            </a:r>
          </a:p>
          <a:p>
            <a:r>
              <a:t>    – ~8× per-step saving, matching full-Bloch T1 fits to 0.12%</a:t>
            </a:r>
          </a:p>
          <a:p>
            <a:r>
              <a:t>• Net: a ~30× cost-range ladder, warm-starting one policy up the rungs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[Execution (50%) — the insight that makes the cheap rungs trustworthy]</a:t>
            </a:r>
          </a:p>
          <a:p/>
          <a:p>
            <a:r>
              <a:t>Cached-water linearity. Bloch is linear in spins so k-space separates exactly: S_full = S_spheres + S_water. Water is one homogeneous material so its contribution factorises per shot — only the scalar Mz^(k) depends on the timing, the geometric template W_α is built once and reused. A new timing just rescales the template; only the sphere spins are re-simulated. ~8× cheaper, matches full-Bloch to 0.12%. This is what makes the cheap rungs trustworthy, not just fast.</a:t>
            </a:r>
          </a:p>
          <a:p/>
          <a:p>
            <a:r>
              <a:t>— Slide bullets (detail) —</a:t>
            </a:r>
          </a:p>
          <a:p>
            <a:r>
              <a:t>• Bloch simulation is LINEAR in spins → the k-space separates exactly</a:t>
            </a:r>
          </a:p>
          <a:p>
            <a:r>
              <a:t>• Water is a single homogeneous material → its term FACTORISES per shot</a:t>
            </a:r>
          </a:p>
          <a:p>
            <a:r>
              <a:t>    – only the scalar Mz^(k) depends on the timing (TI, TR, α)</a:t>
            </a:r>
          </a:p>
          <a:p>
            <a:r>
              <a:t>    – the geometric template W_α is built ONCE, then reused</a:t>
            </a:r>
          </a:p>
          <a:p>
            <a:r>
              <a:t>• So a new timing just rescales a cached template — only spheres re-simulated</a:t>
            </a:r>
          </a:p>
          <a:p>
            <a:r>
              <a:t>    – ~8× cheaper per step; matches full-Bloch T1 fits to 0.12%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[Execution (50%) / Evaluation (20%) — methodological care]</a:t>
            </a:r>
          </a:p>
          <a:p/>
          <a:p>
            <a:r>
              <a:t>Promotion. A cheap biased rung games its own score, so promotion and checkpointing are scored on a held-out full-sim probe, never the cheap number. Promote on plateau or ranking breakdown. Keep a global-best checkpoint on target fidelity — the last policy is often not the best. Honest: thresholds hand-tuned, future work.</a:t>
            </a:r>
          </a:p>
          <a:p/>
          <a:p>
            <a:r>
              <a:t>— Slide bullets (detail) —</a:t>
            </a:r>
          </a:p>
          <a:p>
            <a:r>
              <a:t>• A cheap, biased rung can keep RAISING ITS OWN SCORE by exploiting its bias</a:t>
            </a:r>
          </a:p>
          <a:p>
            <a:r>
              <a:t>• So promotion + checkpoint selection are scored on a held-out FULL-simulator probe</a:t>
            </a:r>
          </a:p>
          <a:p>
            <a:r>
              <a:t>    – never the cheap rung's own number</a:t>
            </a:r>
          </a:p>
          <a:p>
            <a:r>
              <a:t>• Promote on: target plateau, or ranking breakdown (Spearman vs full sim drops)</a:t>
            </a:r>
          </a:p>
          <a:p>
            <a:r>
              <a:t>• Keep a GLOBAL-BEST checkpoint on the target fidelity</a:t>
            </a:r>
          </a:p>
          <a:p>
            <a:r>
              <a:t>    – the last policy in a curriculum is often NOT the best (we'll see this in Run A)</a:t>
            </a:r>
          </a:p>
          <a:p>
            <a:r>
              <a:t>• Honest note (Q&amp;A): thresholds are hand-tuned, not derived — flagged as future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[Evaluation (20%) — the honest negative result, dedicated framing]</a:t>
            </a:r>
          </a:p>
          <a:p/>
          <a:p>
            <a:r>
              <a:t>Limitation slide. Run A = full 14-sphere plate spanning the whole T1 range — hardest case for adaptivity, one fixed schedule already near-optimal. Fixed CR wins 4.70% vs 9.4-11.7%. But the agent IS adaptive (TI varies, tracks estimate); longest sphere beyond TI reach. Lessons: global-best necessary; need a task with variation. Motivates Run B.</a:t>
            </a:r>
          </a:p>
          <a:p/>
          <a:p>
            <a:r>
              <a:t>— Slide bullets (detail) —</a:t>
            </a:r>
          </a:p>
          <a:p>
            <a:r>
              <a:t>• Run A = full 14-sphere plate, spanning the ENTIRE clinical T1 range</a:t>
            </a:r>
          </a:p>
          <a:p>
            <a:r>
              <a:t>    – the hardest case for adaptivity — one fixed schedule already serves a near-fixed fleet</a:t>
            </a:r>
          </a:p>
          <a:p>
            <a:r>
              <a:t>• Result: the fixed Cramér–Rao schedule WINS (4.70% vs the agent's 9.4–11.7%)</a:t>
            </a:r>
          </a:p>
          <a:p>
            <a:r>
              <a:t>    – an honest negative</a:t>
            </a:r>
          </a:p>
          <a:p>
            <a:r>
              <a:t>• But the agent is genuinely adaptive, not collapsed:</a:t>
            </a:r>
          </a:p>
          <a:p>
            <a:r>
              <a:t>    – TI varies within/across episodes, tracks the running T1 estimate</a:t>
            </a:r>
          </a:p>
          <a:p>
            <a:r>
              <a:t>    – longest sphere is beyond its TI reach — an action-coverage ceiling</a:t>
            </a:r>
          </a:p>
          <a:p>
            <a:r>
              <a:t>• Lessons → Run B: global-best is necessary; test adaptivity where there's something to adapt 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[Execution + Evaluation — fair comparison, alternative explanation ruled out]</a:t>
            </a:r>
          </a:p>
          <a:p/>
          <a:p>
            <a:r>
              <a:t>Run B. Say the fair-comparison line once: held-out seeds, 24 episodes, CIs, matched budget + same fitter. 5 spheres, T1 resampled each episode. RL 4.62% vs fixed 6.86%, CIs don't overlap; CR collapses (15.96%). Is it just more measurements? No — re-solve grid at policy's own TR, it does worse → gain is adaptive placement. Probe-then-refine; holds at 560s.</a:t>
            </a:r>
          </a:p>
          <a:p/>
          <a:p>
            <a:r>
              <a:t>— Slide bullets (detail) —</a:t>
            </a:r>
          </a:p>
          <a:p>
            <a:r>
              <a:t>• Fair comparison (covers every result): strict held-out seeds, 24 episodes, 95% CIs,</a:t>
            </a:r>
          </a:p>
          <a:p>
            <a:r>
              <a:t>    – same scan budget + same fitter for RL and every fixed baseline</a:t>
            </a:r>
          </a:p>
          <a:p>
            <a:r>
              <a:t>• Run B: 5 spheres, T1 resampled continuously every episode (variation a grid can't anticipate)</a:t>
            </a:r>
          </a:p>
          <a:p>
            <a:r>
              <a:t>• RL 4.62% vs best fixed log-grid 6.86% at 240 s — non-overlapping CIs</a:t>
            </a:r>
          </a:p>
          <a:p>
            <a:r>
              <a:t>    – Cramér–Rao schedule collapses (15.96%): solved for a nominal fleet</a:t>
            </a:r>
          </a:p>
          <a:p>
            <a:r>
              <a:t>• Is the gain just MORE measurements? No.</a:t>
            </a:r>
          </a:p>
          <a:p>
            <a:r>
              <a:t>    – re-solve the fixed grid at the policy's own shorter TR → it does WORSE</a:t>
            </a:r>
          </a:p>
          <a:p>
            <a:r>
              <a:t>    – → the gain is adaptive PLACEMENT, not block count</a:t>
            </a:r>
          </a:p>
          <a:p>
            <a:r>
              <a:t>• Behaviour: probe-then-refine. Advantage holds at 560 s (4.16% vs 6.04%)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[Execution + Evaluation — a genuine research insight, controlled ablation]</a:t>
            </a:r>
          </a:p>
          <a:p/>
          <a:p>
            <a:r>
              <a:t>Climax. Partially-observed problem: estimate is a lossy summary of which TIs bought. Three memories: σ, LSTM, TI-coverage histogram. histogram &gt;&gt; no-mem &gt; σ &gt; LSTM. Histogram 2.93%, 95.8% under 5%, vs 6.04% fixed, CI separate from all. Twist: LSTM learned the intuitive estimate-tracking rule (r=+0.78) and lost; histogram is coverage-driven (r=-0.12) and won. What you remember matters as much as whether you adapt. LSTM caveat: 5x slower, undertrained.</a:t>
            </a:r>
          </a:p>
          <a:p/>
          <a:p>
            <a:r>
              <a:t>— Slide bullets (detail) —</a:t>
            </a:r>
          </a:p>
          <a:p>
            <a:r>
              <a:t>• Partially-observed: the estimate is a lossy summary of WHICH TIs you've bought</a:t>
            </a:r>
          </a:p>
          <a:p>
            <a:r>
              <a:t>• Three ways to carry that history: fitter uncertainty (σ), an LSTM, a TI-coverage histogram</a:t>
            </a:r>
          </a:p>
          <a:p>
            <a:r>
              <a:t>• Result: histogram ≫ no-memory &gt; σ-channel &gt; LSTM</a:t>
            </a:r>
          </a:p>
          <a:p>
            <a:r>
              <a:t>    – histogram = best in the project: 2.93% MAPE, 95.8% of episodes &lt; 5% (vs 6.04% fixed)</a:t>
            </a:r>
          </a:p>
          <a:p>
            <a:r>
              <a:t>• The twist:</a:t>
            </a:r>
          </a:p>
          <a:p>
            <a:r>
              <a:t>    – LSTM learned the INTUITIVE rule (longer T1 → longer TI, r=+0.78) — and LOST</a:t>
            </a:r>
          </a:p>
          <a:p>
            <a:r>
              <a:t>    – histogram conditions on which TI bins are unsampled (r=−0.12) — and WON</a:t>
            </a:r>
          </a:p>
          <a:p>
            <a:r>
              <a:t>• Takeaway: what you remember matters as much as whether you adapt</a:t>
            </a:r>
          </a:p>
          <a:p>
            <a:r>
              <a:t>    – LSTM caveat (Q&amp;A): ~5× slower/step → undertrained at equal wall-clock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[Evaluation (20%) — contribution situated vs baselines, honest caveats]</a:t>
            </a:r>
          </a:p>
          <a:p/>
          <a:p>
            <a:r>
              <a:t>Positioning. Not like-for-like; prior work has stronger hardware validation. We contribute a different object: closed-loop RL scored on fitted-T1 error in a validated pipeline. By Beracha's own precision-&gt;time heuristic, 6.04-&gt;2.93% (~2.06x precision) ~ 4x acceleration, top of their range, harder task.</a:t>
            </a:r>
          </a:p>
          <a:p/>
          <a:p>
            <a:r>
              <a:t>— Slide bullets (detail) —</a:t>
            </a:r>
          </a:p>
          <a:p>
            <a:r>
              <a:t>• Not a like-for-like ranking — tasks differ</a:t>
            </a:r>
          </a:p>
          <a:p>
            <a:r>
              <a:t>• Prior work has stronger hardware validation (Beracha, MRzero, Walker-Samuel)</a:t>
            </a:r>
          </a:p>
          <a:p>
            <a:r>
              <a:t>• This work contributes a different OBJECT:</a:t>
            </a:r>
          </a:p>
          <a:p>
            <a:r>
              <a:t>    – a closed-loop RL policy scored on fitted-T1 error in a VALIDATED 2-D pipeline</a:t>
            </a:r>
          </a:p>
          <a:p>
            <a:r>
              <a:t>• Using Beracha's own precision→time heuristic:</a:t>
            </a:r>
          </a:p>
          <a:p>
            <a:r>
              <a:t>    – 6.04% → 2.93% (~2.06× precision) ≈ ~4× acceleration</a:t>
            </a:r>
          </a:p>
          <a:p>
            <a:r>
              <a:t>    – top of their reported range — on a harder fleet task, not one voxel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[Evaluation (20%) — broader impact + what does NOT generalise]</a:t>
            </a:r>
          </a:p>
          <a:p/>
          <a:p>
            <a:r>
              <a:t>Close. Three contributions: twin; validation fixing two upstream bugs; first RL agent for adaptive qMRI (2.93 vs 6.04, plus coverage&gt;estimate-tracking finding). Why it matters: scan-time bottleneck, MR-Linac, ~4x accel. What I'm NOT claiming: sim-only, one seed, single-fitter confound; next step physical phantom; 14-sphere favours fixed. Future work. Thanks — questions.</a:t>
            </a:r>
          </a:p>
          <a:p/>
          <a:p>
            <a:r>
              <a:t>— Slide bullets (detail) —</a:t>
            </a:r>
          </a:p>
          <a:p>
            <a:r>
              <a:t>• 1. Open-source executable twin of a calibrated phantom</a:t>
            </a:r>
          </a:p>
          <a:p>
            <a:r>
              <a:t>• 2. Validation-by-recovery → fixed two upstream KomaMRI bugs (39.4 → 0.48%)</a:t>
            </a:r>
          </a:p>
          <a:p>
            <a:r>
              <a:t>• 3. First RL agent for adaptive qMRI — best 2.93% vs 6.04%; coverage-memory finding</a:t>
            </a:r>
          </a:p>
          <a:p>
            <a:r>
              <a:t>• Why it matters: less scan time at equal accuracy = the MR-Linac bottleneck (~4× accel)</a:t>
            </a:r>
          </a:p>
          <a:p>
            <a:r>
              <a:t>• What I'm NOT claiming (reflection): simulator-only, one seed/arm, single-fitter confound</a:t>
            </a:r>
          </a:p>
          <a:p>
            <a:r>
              <a:t>    – honest next step is a physical-phantom benchmark; full 14-sphere still favours fixed</a:t>
            </a:r>
          </a:p>
          <a:p>
            <a:r>
              <a:t>• Future: wider action space; T2/PD plates; greedy-CRLB Bayesian baseline; step-matched LSTM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deck = anticipating objections (an Execution-band signal). Likely challenges: fitter confound, single seed, simulator-only, LSTM compute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[Backup — Q&amp;A]</a:t>
            </a:r>
          </a:p>
          <a:p/>
          <a:p>
            <a:r>
              <a:t>Reward screening detail. neg-MAPE collapses to no blocks; terminal too sparse; Δlog MAPE best (0.830). Chosen on the cheap analytic env before Bloch compute.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[Backup — Q&amp;A]</a:t>
            </a:r>
          </a:p>
          <a:p/>
          <a:p>
            <a:r>
              <a:t>Cached water matches full-Bloch to 0.12%; analytic water ~40% off. Template bank keyed to flip 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[Backup — Q&amp;A]</a:t>
            </a:r>
          </a:p>
          <a:p/>
          <a:p>
            <a:r>
              <a:t>Noise σ=50 → SNR 17-28, clinical. Graceful to σ≈85. Noise-limited, not broken.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[Backup — Q&amp;A]</a:t>
            </a:r>
          </a:p>
          <a:p/>
          <a:p>
            <a:r>
              <a:t>Second bug: closing-knot collapse after rebasing, 52% jump at shot 18. Fitter floor: 300-point log grid → ~1% quantisation; 500 points ~0.48%.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[Backup — Q&amp;A]</a:t>
            </a:r>
          </a:p>
          <a:p/>
          <a:p>
            <a:r>
              <a:t>Run B behaviour: ~6 blocks, zero repairs, two high-TI probes then refine, r=-0.72 two-phase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[Backup — Q&amp;A]</a:t>
            </a:r>
          </a:p>
          <a:p/>
          <a:p>
            <a:r>
              <a:t>Fixed comparators are CR-optimal, not hand-picked. CRLB = variance floor. static-optimal vs static-average; CR wins Run A, collapses Run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Adaptive Quantitative MRI Sequence Design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with 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1E23"/>
                </a:solidFill>
              </a:defRPr>
            </a:pPr>
            <a:r>
              <a:t>Arthur Allilaire  ·  Imperial College London  ·  BEng Final-Year Project</a:t>
            </a:r>
          </a:p>
          <a:p>
            <a:pPr>
              <a:defRPr sz="1600">
                <a:solidFill>
                  <a:srgbClr val="1E1E23"/>
                </a:solidFill>
              </a:defRPr>
            </a:pPr>
            <a:r>
              <a:t>Supervisors: Andreas Wetscherek (ICR)  ·  Wayne Luk (Imperial)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0000CD"/>
                </a:solidFill>
              </a:defRPr>
            </a:pPr>
            <a:r>
              <a:t>Can an agent learn to design MRI scans on the fly — better than a fixed protocol?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Why this matters: the scan-time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MR-Linac: scan time is the bottleneck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qMRI: measure T1/T2 — many timed images + a fit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Today: one FIXED protocol for every patient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Best timing depends on the unknown tissue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371600"/>
            <a:ext cx="6979615" cy="4937760"/>
          </a:xfrm>
          <a:prstGeom prst="rect">
            <a:avLst/>
          </a:prstGeom>
          <a:solidFill>
            <a:srgbClr val="EEF0F8"/>
          </a:solidFill>
          <a:ln>
            <a:solidFill>
              <a:srgbClr val="AAB2CD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1E5A"/>
                </a:solidFill>
              </a:defRPr>
            </a:pPr>
            <a:r>
              <a:t>FIG-1 (make / source)</a:t>
            </a:r>
            <a:br/>
            <a:r>
              <a:t>Clean MR-Linac or qMRI T1-map image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Adaptive qMRI: the idea, the gap, and our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Adaptive MRI ≈ 2.5× faster (Beracha)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Adaptive qMRI: Bayesian model only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RL in MRI: non-quantitative goals only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Thesis: first RL agent for adaptive qMRI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phantom (A1) → simulator (A2) → RL (A3)</a:t>
            </a:r>
          </a:p>
        </p:txBody>
      </p:sp>
      <p:pic>
        <p:nvPicPr>
          <p:cNvPr id="4" name="Picture 3" descr="fig2_cap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557585"/>
            <a:ext cx="6979615" cy="45657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A1 — A known phantom to learn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Need a KNOWN object: ground-truth T1/T2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QalibreMD Model 130 — 14 spheres, ~24 ms–1.9 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MRISystemPhantom.jl → KomaMRI objects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Water (~80% spins) on its own coarsenable grid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Open-source, ~373 tests, config + seed reproducible</a:t>
            </a:r>
          </a:p>
        </p:txBody>
      </p:sp>
      <p:pic>
        <p:nvPicPr>
          <p:cNvPr id="4" name="Picture 3" descr="potential_calibremd_phantom_re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609" y="1371600"/>
            <a:ext cx="5018157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LIVE DEMO — Building and inspecting the digital phantom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Build phantom live from a PhantomConfig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3-D T1 plate → Bloch sim → one IR signal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A real KomaMRI.Phantom — no special-casing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Fallback stills · pre-warm JIT · hard stop 5:30</a:t>
            </a:r>
          </a:p>
        </p:txBody>
      </p:sp>
      <p:pic>
        <p:nvPicPr>
          <p:cNvPr id="4" name="Picture 3" descr="phantom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47641"/>
            <a:ext cx="6979615" cy="47856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A2 — A plausible image is not a correct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Simulator must be QUANTITATIVELY right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KomaMRI validated only on SHORT sequences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Recovery test, no noise: 39.4% error (some ~100%)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Spoilers worse, long TR worse → elapsed TIME, not physics</a:t>
            </a:r>
          </a:p>
        </p:txBody>
      </p:sp>
      <p:pic>
        <p:nvPicPr>
          <p:cNvPr id="4" name="Picture 3" descr="buggy_t1_fit_vs_tr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13650"/>
            <a:ext cx="6979615" cy="44536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A2 — Two floating-point bugs in KomaMRI, found &amp; fixed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k-space collapses after a fixed cumulative TIME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RF edge marked with a fixed ε = 1e-14 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Float64 is relative: eps(t) ≈ t·2⁻⁵² → t+ε == t past ~128 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Fixed upstream (PR #780, #789): 39.4% → 0.48%</a:t>
            </a:r>
          </a:p>
        </p:txBody>
      </p:sp>
      <p:pic>
        <p:nvPicPr>
          <p:cNvPr id="4" name="Picture 3" descr="fig3_float_col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56" y="1371600"/>
            <a:ext cx="4401063" cy="2414016"/>
          </a:xfrm>
          <a:prstGeom prst="rect">
            <a:avLst/>
          </a:prstGeom>
        </p:spPr>
      </p:pic>
      <p:pic>
        <p:nvPicPr>
          <p:cNvPr id="5" name="Picture 4" descr="buggy_pixel_grid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209" y="3895344"/>
            <a:ext cx="2876957" cy="24140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A3 — The RL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3383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Episode: 2-D IR scan, 240 s budget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State: per-sphere T1 est + budget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Action: next TI (and TR)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Reward: dense Δlog MAPE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PPO (SB3), Julia in-process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σ=50 → SNR 17–28</a:t>
            </a:r>
          </a:p>
        </p:txBody>
      </p:sp>
      <p:pic>
        <p:nvPicPr>
          <p:cNvPr id="4" name="Picture 3" descr="fig_env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435154"/>
            <a:ext cx="7711135" cy="48106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A3 / C2 — The cost wall and the multi-fidelity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Full-Bloch step ≈ 4 s → 200k steps ≈ 9 days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80% of spins are water the agent never measures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Lever: coarsen water · cache water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~30× cost ladder, one policy warm-started up</a:t>
            </a:r>
          </a:p>
        </p:txBody>
      </p:sp>
      <p:pic>
        <p:nvPicPr>
          <p:cNvPr id="4" name="Picture 3" descr="fig4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539720"/>
            <a:ext cx="6979615" cy="46015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A3 / C2 — Cached water: exploiting simulator linearity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Bloch is LINEAR in spins → k-space separates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Homogeneous water FACTORISES per shot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Build template once, rescale per timing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~8× cheaper · 0.12% T1 match</a:t>
            </a:r>
          </a:p>
        </p:txBody>
      </p:sp>
      <p:pic>
        <p:nvPicPr>
          <p:cNvPr id="4" name="Picture 3" descr="fig4b_line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910180"/>
            <a:ext cx="6979615" cy="38605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A3 — The trust problem: bias-aware promotion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Cheap biased rung games its own score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Score on a held-out FULL-sim probe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Promote on plateau / ranking breakdown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Keep a GLOBAL-BEST checkpoint</a:t>
            </a:r>
          </a:p>
        </p:txBody>
      </p:sp>
      <p:pic>
        <p:nvPicPr>
          <p:cNvPr id="4" name="Picture 3" descr="fig5_contro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45" y="1371600"/>
            <a:ext cx="6513284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Limitation — where adaptivity does not help (Run 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Run A: full 14-sphere plate, whole T1 range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Fixed Cramér–Rao WINS: 4.70% vs 9.4–11.7%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Agent is adaptive (TI tracks estimate), not collapsed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Longest sphere beyond TI reach — coverage ceiling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Lessons → global-best; test where there's variation</a:t>
            </a:r>
          </a:p>
        </p:txBody>
      </p:sp>
      <p:pic>
        <p:nvPicPr>
          <p:cNvPr id="4" name="Picture 3" descr="runA_money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475" y="1371600"/>
            <a:ext cx="3862425" cy="2414016"/>
          </a:xfrm>
          <a:prstGeom prst="rect">
            <a:avLst/>
          </a:prstGeom>
        </p:spPr>
      </p:pic>
      <p:pic>
        <p:nvPicPr>
          <p:cNvPr id="5" name="Picture 4" descr="runA_ti_per_epis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475" y="3895344"/>
            <a:ext cx="3862425" cy="24140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Run B — adaptivity helps when the task varies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Fair: held-out seeds, 24 eps, CIs, matched budget + fitter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5 spheres, T1 resampled every episode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RL 4.62% vs fixed 6.86% (CIs disjoint); CR 15.96%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Not just more blocks: regrid at policy TR → worse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Adaptive PLACEMENT; holds at 560 s (4.16 vs 6.04)</a:t>
            </a:r>
          </a:p>
        </p:txBody>
      </p:sp>
      <p:pic>
        <p:nvPicPr>
          <p:cNvPr id="4" name="Picture 3" descr="runB_map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04759"/>
            <a:ext cx="6979615" cy="40714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Key finding — what the policy should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History = which TIs you've bought (partially observed)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Carry it: σ · LSTM · TI-coverage histogram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histogram ≫ none &gt; σ &gt; LSTM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Best: 2.93% MAPE, 95.8% &lt; 5% (vs 6.04%)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LSTM tracked estimate (r=+0.78) &amp; lost; histogram coverage (r=−0.12) &amp; won</a:t>
            </a:r>
          </a:p>
        </p:txBody>
      </p:sp>
      <p:pic>
        <p:nvPicPr>
          <p:cNvPr id="4" name="Picture 3" descr="runB_memory_m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56289"/>
            <a:ext cx="6979615" cy="41683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Quantitative positioning against published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Not like-for-like — tasks differ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Prior work: stronger hardware validation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Ours: closed-loop RL on fitted-T1, validated pipeline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Beracha heuristic: 6.04→2.93% ≈ ~4× acceleration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371600"/>
            <a:ext cx="6979615" cy="4937760"/>
          </a:xfrm>
          <a:prstGeom prst="rect">
            <a:avLst/>
          </a:prstGeom>
          <a:solidFill>
            <a:srgbClr val="EEF0F8"/>
          </a:solidFill>
          <a:ln>
            <a:solidFill>
              <a:srgbClr val="AAB2CD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1E5A"/>
                </a:solidFill>
              </a:defRPr>
            </a:pPr>
            <a:r>
              <a:t>FIG-9 (make)</a:t>
            </a:r>
            <a:br/>
            <a:r>
              <a:t>distil quant-anchor table</a:t>
            </a:r>
            <a:br/>
            <a:r>
              <a:t>to 3–4 comparable bars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Contributions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1. Open-source phantom twin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2. Validation → fixed two KomaMRI bugs (39.4→0.48%)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3. First RL agent for adaptive qMRI (2.93 vs 6.04)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CD"/>
                </a:solidFill>
              </a:rPr>
              <a:t>• Impact: ~4× acceleration, MR-Linac bottleneck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Not claiming: sim-only, one seed, fitter confound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Future: wider actions; T2/PD; Bayesian baseline; LSTM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Backup slides  —  anticipating Q&amp;A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Backup — Reward screening (why Δlog MAPE)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Per-step −MAPE penalty collapsed to a ZERO-measurement policy (summed penalties punish measuring)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Terminal-only was too sparse; progress rewards best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Δlog MAPE won the 30k PPO screen (0.830) — chosen before committing Bloch compute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Ties back to the degenerate single-voxel collapse (terminal-bonus lesson)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371600"/>
            <a:ext cx="6979615" cy="4937760"/>
          </a:xfrm>
          <a:prstGeom prst="rect">
            <a:avLst/>
          </a:prstGeom>
          <a:solidFill>
            <a:srgbClr val="EEF0F8"/>
          </a:solidFill>
          <a:ln>
            <a:solidFill>
              <a:srgbClr val="AAB2CD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1E5A"/>
                </a:solidFill>
              </a:defRPr>
            </a:pPr>
            <a:r>
              <a:t>reward-screen table (tab:e2-reward-screen)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Backup — Cached-water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Cached model matches full-Bloch T1 fits to 0.12% (worst 1.15%)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Modelling water analytically instead is too crude: up to ~40% per-sphere deviation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α-matched template bank: exact at matched flip angle, blended off-grid</a:t>
            </a:r>
          </a:p>
        </p:txBody>
      </p:sp>
      <p:pic>
        <p:nvPicPr>
          <p:cNvPr id="4" name="Picture 3" descr="water_t1_fit_4var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167" y="1371600"/>
            <a:ext cx="6035040" cy="2414016"/>
          </a:xfrm>
          <a:prstGeom prst="rect">
            <a:avLst/>
          </a:prstGeom>
        </p:spPr>
      </p:pic>
      <p:pic>
        <p:nvPicPr>
          <p:cNvPr id="5" name="Picture 4" descr="water_cache_relerr_vs_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476" y="3895344"/>
            <a:ext cx="6322422" cy="24140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Backup — Noise calibration (σ = 50)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σ=50 → NEMA SNR ≈ 17 (plate avg) to 28 (bright spheres) — clinical IR range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25-seed sweep: T1 fits degrade gracefully to σ≈85, collapse beyond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So the task is noise-LIMITED but not estimation-broken</a:t>
            </a:r>
          </a:p>
        </p:txBody>
      </p:sp>
      <p:pic>
        <p:nvPicPr>
          <p:cNvPr id="4" name="Picture 3" descr="snr_mape_vs_si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207" y="1371600"/>
            <a:ext cx="3678960" cy="2414016"/>
          </a:xfrm>
          <a:prstGeom prst="rect">
            <a:avLst/>
          </a:prstGeom>
        </p:spPr>
      </p:pic>
      <p:pic>
        <p:nvPicPr>
          <p:cNvPr id="5" name="Picture 4" descr="snr_sweep_im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809187"/>
            <a:ext cx="6979615" cy="5863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Backup — The second KomaMRI bug + fitter floor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Bug 2: closing-knot collapse AFTER time-rebasing (T0 + t) — same ε mechanism, later in pipeline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E1E23"/>
                </a:solidFill>
              </a:rPr>
              <a:t>– reproducer: +52% jump at shot 18 (270 s), then a wrong plateau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Fitter grid floor: 300 log-spaced T1 candidates → ~1% quantisation floor by construction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E1E23"/>
                </a:solidFill>
              </a:rPr>
              <a:t>– so reported MAPE can't fall below ~1%; 500-point grid reaches ~0.48%</a:t>
            </a:r>
          </a:p>
        </p:txBody>
      </p:sp>
      <p:pic>
        <p:nvPicPr>
          <p:cNvPr id="4" name="Picture 3" descr="fixed_recovery_curves_ko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255" y="1371600"/>
            <a:ext cx="6912864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Backup — Run B policy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240 s policy: 5.92 blocks avg, ZERO timing repairs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Opens with two high-TI probes (~0.78–0.83 s), then shorter adaptive refinements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TI vs current estimate r=−0.72: a two-phase probe-then-refine, not a monotonic rule</a:t>
            </a:r>
          </a:p>
        </p:txBody>
      </p:sp>
      <p:pic>
        <p:nvPicPr>
          <p:cNvPr id="4" name="Picture 3" descr="runB_240_ti_per_epis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475" y="1371600"/>
            <a:ext cx="3862425" cy="2414016"/>
          </a:xfrm>
          <a:prstGeom prst="rect">
            <a:avLst/>
          </a:prstGeom>
        </p:spPr>
      </p:pic>
      <p:pic>
        <p:nvPicPr>
          <p:cNvPr id="5" name="Picture 4" descr="runB_curriculum_prob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531" y="3895344"/>
            <a:ext cx="4138313" cy="24140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Backup — Fixed comparators (Cramér–Rao baselines)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Fixed schedules aren't hand-chosen — they're Cramér–Rao-optimal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CRLB = variance floor for any unbiased estimator, set by design + noise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3"/>
                </a:solidFill>
              </a:rPr>
              <a:t>• static-OPTIMAL (solved for nominal fleet) vs static-AVERAGE (robust log grid)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E1E23"/>
                </a:solidFill>
              </a:rPr>
              <a:t>– CR wins when the fleet matches (Run A); collapses under per-episode variation (Run B)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371600"/>
            <a:ext cx="6979615" cy="4937760"/>
          </a:xfrm>
          <a:prstGeom prst="rect">
            <a:avLst/>
          </a:prstGeom>
          <a:solidFill>
            <a:srgbClr val="EEF0F8"/>
          </a:solidFill>
          <a:ln>
            <a:solidFill>
              <a:srgbClr val="AAB2CD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1E5A"/>
                </a:solidFill>
              </a:defRPr>
            </a:pPr>
            <a:r>
              <a:t>(no figure — speak it)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